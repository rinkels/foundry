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1965960"/>
            <a:ext cx="182880" cy="182880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932688" y="1965960"/>
            <a:ext cx="182880" cy="182880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7008" y="1965960"/>
            <a:ext cx="182880" cy="182880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AgPay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658368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infrastructure for agriculture.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658368" y="40233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vertical fintech platform for agri-commerce: checkout, escrow, settlement, ledger, contract financing, and trusted payment workflows.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58368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C9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WEDGES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" y="53949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504688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MeatLovers.ca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3232" y="5650992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commerce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11880" y="53949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66744" y="5504688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DealerMaster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66744" y="5650992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livestock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 Deck  ·  agpay.ca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INVESTOR THESIS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Agriculture needs payment rails that understand real-world conditions.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731520" y="2167128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High-value transactions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12080" y="2075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Cattle lots and bulk produce — five and six figures per deal.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9" name="Text 37"/>
          <p:cNvSpPr/>
          <p:nvPr/>
        </p:nvSpPr>
        <p:spPr>
          <a:xfrm>
            <a:off x="105156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Multi-party settlement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12080" y="294436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Producer, processor, dealer, marketplace, lender — all paid correctly.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1520" y="3904488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42" name="Text 40"/>
          <p:cNvSpPr/>
          <p:nvPr/>
        </p:nvSpPr>
        <p:spPr>
          <a:xfrm>
            <a:off x="105156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Variable final pricing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12080" y="38130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weights, grades and shrink change the number after the sale.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520" y="4773168"/>
            <a:ext cx="146304" cy="146304"/>
          </a:xfrm>
          <a:prstGeom prst="ellipse">
            <a:avLst/>
          </a:prstGeom>
          <a:solidFill>
            <a:srgbClr val="5DD6C6"/>
          </a:solidFill>
          <a:ln/>
        </p:spPr>
      </p:sp>
      <p:sp>
        <p:nvSpPr>
          <p:cNvPr id="45" name="Text 43"/>
          <p:cNvSpPr/>
          <p:nvPr/>
        </p:nvSpPr>
        <p:spPr>
          <a:xfrm>
            <a:off x="1051560" y="4663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D6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Embedded credit &amp; contract terms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12080" y="4681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contracts, interest, staged payments baked into the deal.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31520" y="5641848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48" name="Text 46"/>
          <p:cNvSpPr/>
          <p:nvPr/>
        </p:nvSpPr>
        <p:spPr>
          <a:xfrm>
            <a:off x="1051560" y="5532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Trust, inspection &amp; delivery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212080" y="55504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should move on weights, grades, inspection and delivery — not blind checkout.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pain is not payments alone. It is payment + proof + settlement.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1005840" y="24231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" y="24231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0" y="2880360"/>
            <a:ext cx="50292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703320" y="24231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58184" y="24231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880360"/>
            <a:ext cx="50292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00800" y="24231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24231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595360" y="2880360"/>
            <a:ext cx="50292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98280" y="24231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53144" y="24231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Settle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Today, sellers stitch the rest together by hand: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005840" y="4572000"/>
            <a:ext cx="764438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572000"/>
            <a:ext cx="7644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916582" y="4572000"/>
            <a:ext cx="989381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16582" y="4572000"/>
            <a:ext cx="9893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E-transfers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052267" y="4572000"/>
            <a:ext cx="689458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52267" y="4572000"/>
            <a:ext cx="6894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Cheques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88029" y="4572000"/>
            <a:ext cx="1064362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8029" y="4572000"/>
            <a:ext cx="106436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098694" y="4572000"/>
            <a:ext cx="989381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98694" y="4572000"/>
            <a:ext cx="9893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calls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34379" y="4572000"/>
            <a:ext cx="1739189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4379" y="4572000"/>
            <a:ext cx="173918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reconciliation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7F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AgPay collapses order → hold → validate → settle into one workflow with a built-in ledger.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with checkout. Add workflows as complexity grows.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5184648" y="27889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87F7C3"/>
          </a:solidFill>
          <a:ln/>
        </p:spPr>
      </p:sp>
      <p:sp>
        <p:nvSpPr>
          <p:cNvPr id="36" name="Text 34"/>
          <p:cNvSpPr/>
          <p:nvPr/>
        </p:nvSpPr>
        <p:spPr>
          <a:xfrm>
            <a:off x="5184648" y="2788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AgPay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2011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" y="2011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Checkout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0" y="2395728"/>
            <a:ext cx="1527048" cy="941832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4400" y="3154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" y="3154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 flipV="1">
            <a:off x="3657600" y="3337560"/>
            <a:ext cx="1527048" cy="201168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" y="4297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" y="4297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Settlements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 flipV="1">
            <a:off x="3657600" y="3337560"/>
            <a:ext cx="1527048" cy="1344168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503920" y="2011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58784" y="2011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Ledger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 flipH="1">
            <a:off x="7013448" y="2395728"/>
            <a:ext cx="1490472" cy="941832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503920" y="3154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58784" y="3154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Financing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 flipH="1" flipV="1">
            <a:off x="7013448" y="3337560"/>
            <a:ext cx="1490472" cy="201168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503920" y="4297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58784" y="4297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 flipH="1" flipV="1">
            <a:off x="7013448" y="3337560"/>
            <a:ext cx="1490472" cy="1344168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Merchants adopt checkout first, then layer on escrow, settlement, ledger, financing and verification.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WEDGE · CONSUMER COMMERCE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MeatLovers.ca — a freezer-box checkout becomes a live AgPay environment.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640080" y="2148840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meat boxes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3400" y="2148840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Deposits &amp; pre-orders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6720" y="2148840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Batch allocation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080" y="3520440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D6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Processor timing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43400" y="3520440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Producer relationships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46720" y="3520440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trust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7F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simple consumer checkout already exercises deposits, escrow, final-weight reconciliation, and split settlement.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MEATLOVERS · MONEY FLOW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→ AgPay → MeatLovers → Processor → Producer.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502920" y="2560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2560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31720" y="3017520"/>
            <a:ext cx="507492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839212" y="2560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94076" y="2560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AgPay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8012" y="3017520"/>
            <a:ext cx="507492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75504" y="2560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0368" y="2560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MeatLovers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04304" y="3017520"/>
            <a:ext cx="507492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11796" y="2560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66660" y="2560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Processor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340596" y="3017520"/>
            <a:ext cx="507492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848088" y="2560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02952" y="2560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AgPay sits in the middle and applies the right rule at each hop: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689458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480560"/>
            <a:ext cx="6894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475842" y="4480560"/>
            <a:ext cx="1139342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75842" y="4480560"/>
            <a:ext cx="11393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Escrow option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61488" y="4480560"/>
            <a:ext cx="2189074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61488" y="4480560"/>
            <a:ext cx="21890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Final-weight reconciliation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96866" y="4480560"/>
            <a:ext cx="1364285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96866" y="4480560"/>
            <a:ext cx="136428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settlement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607454" y="4480560"/>
            <a:ext cx="1064362" cy="329184"/>
          </a:xfrm>
          <a:prstGeom prst="roundRect">
            <a:avLst>
              <a:gd name="adj" fmla="val 50000"/>
            </a:avLst>
          </a:prstGeom>
          <a:solidFill>
            <a:srgbClr val="0F2018"/>
          </a:solidFill>
          <a:ln w="12700">
            <a:solidFill>
              <a:srgbClr val="2438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7454" y="4480560"/>
            <a:ext cx="106436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fee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WEDGE · B2B / LIVESTOCK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DealerMaster already models the money. AgPay moves it.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822960" y="22402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224028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Buy cattle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0" y="2583180"/>
            <a:ext cx="54864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657600" y="22402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12464" y="224028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43600" y="2583180"/>
            <a:ext cx="54864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92240" y="22402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7104" y="224028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 vendor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2960" y="3337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33375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 cattle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08960" y="3680460"/>
            <a:ext cx="54864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657600" y="3337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12464" y="33375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0" y="3680460"/>
            <a:ext cx="548640" cy="0"/>
          </a:xfrm>
          <a:prstGeom prst="line">
            <a:avLst/>
          </a:prstGeom>
          <a:noFill/>
          <a:ln w="25400">
            <a:solidFill>
              <a:srgbClr val="9AA3A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92240" y="3337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33375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Receive payment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" y="4343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AgPay adds: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14400" y="4709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3F7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links for invoices  ·  Vendor payouts / cheque replacement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3F7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Escrow for cattle transactions  ·  Contract-receivable collections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3F7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Financing-partner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DEALERMASTER · CONTRACT FINANCING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Financed cattle sales become a serviceable receivable.</a:t>
            </a:r>
            <a:endParaRPr lang="en-US" sz="2900" dirty="0"/>
          </a:p>
        </p:txBody>
      </p:sp>
      <p:sp>
        <p:nvSpPr>
          <p:cNvPr id="35" name="Text 33"/>
          <p:cNvSpPr/>
          <p:nvPr/>
        </p:nvSpPr>
        <p:spPr>
          <a:xfrm>
            <a:off x="731520" y="214884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3F7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buys on a finance contract instead of paying up front.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3F7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routes to a Contract Sales receivable (not regular AR).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3F7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contract ledger tracks PURCHASE, PAYMENT and INTEREST.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731520" y="42062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4370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9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Monthly interest — journal entry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473659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3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 Contract Sales receivable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3F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  Interest Income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63640" y="2148840"/>
            <a:ext cx="5257800" cy="3429000"/>
          </a:xfrm>
          <a:prstGeom prst="roundRect">
            <a:avLst>
              <a:gd name="adj" fmla="val 2400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379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Financed sale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9536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$100,000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537960" y="33101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payment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95360" y="33101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– $1,000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537960" y="37398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95360" y="37398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$99,000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537960" y="41696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rate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95360" y="41696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7.45%  (6.95% prime + 0.5%)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537960" y="4599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interest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595360" y="4599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$99,000 × 7.45% ÷ 12 = $614.62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53796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balance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595360" y="5029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$99,614.62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DEALERMASTER · DOUBLE-ENTRY LEDGER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Balance-enforced postings become AgPay triggers.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100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Event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F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100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Debit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F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100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Credit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F7C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7F7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 purchase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Inventory · GST/HST Receivable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Accounts Payable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7F7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 made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Accounts Payable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 / Bank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FF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 sale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Accounts Receivable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 · GST/HST Collected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FF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 received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 / Bank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Accounts Receivable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C9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Monthly interest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Contract Sales receivable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3F7E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Interest Income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13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87F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posting is balance-enforced. AgPay uses these financial events to trigger collection, payout, escrow release, reconciliation and lender reporting.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ARCHITECTURE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Domain apps stay focused. AgPay standardizes the money.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1280160" y="2011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35024" y="2011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MeatLovers.ca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2011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2011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DealerMaster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863840" y="20116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18704" y="201168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Agri marketplaces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280160" y="3337560"/>
            <a:ext cx="9601200" cy="868680"/>
          </a:xfrm>
          <a:prstGeom prst="roundRect">
            <a:avLst>
              <a:gd name="adj" fmla="val 10526"/>
            </a:avLst>
          </a:prstGeom>
          <a:solidFill>
            <a:srgbClr val="87F7C3"/>
          </a:solidFill>
          <a:ln/>
        </p:spPr>
      </p:sp>
      <p:sp>
        <p:nvSpPr>
          <p:cNvPr id="42" name="Text 40"/>
          <p:cNvSpPr/>
          <p:nvPr/>
        </p:nvSpPr>
        <p:spPr>
          <a:xfrm>
            <a:off x="1280160" y="333756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AgPay — money movement · payment status · reconciliation · settlement · financing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28016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35024" y="461772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Stripe / bank rails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461772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AgPay ledger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86384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18704" y="4617720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Financing partners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651760" y="2788920"/>
            <a:ext cx="0" cy="548640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651760" y="4206240"/>
            <a:ext cx="0" cy="411480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943600" y="2788920"/>
            <a:ext cx="0" cy="548640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943600" y="4206240"/>
            <a:ext cx="0" cy="411480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235440" y="2788920"/>
            <a:ext cx="0" cy="548640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235440" y="4206240"/>
            <a:ext cx="0" cy="411480"/>
          </a:xfrm>
          <a:prstGeom prst="line">
            <a:avLst/>
          </a:prstGeom>
          <a:noFill/>
          <a:ln w="25400">
            <a:solidFill>
              <a:srgbClr val="24382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Workflow-specific financial infrastructure — not a commodity processor.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640080" y="210312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 rate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checkout &amp; settlement volume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343400" y="210312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Merchant SaaS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1772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Fees for merchant tools &amp; dashboards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046720" y="210312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 fees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2104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/ staged release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36576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D6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4400" y="4343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servicing &amp; revenue share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343400" y="36576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network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617720" y="4343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fees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046720" y="36576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104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21040" y="4343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 apps &amp; agri ERPs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7F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scales with the value and complexity of the money moved — not just transaction count.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7665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35331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02996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0662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059936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413248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089904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6350">
            <a:solidFill>
              <a:srgbClr val="0C1A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502920"/>
            <a:ext cx="146304" cy="146304"/>
          </a:xfrm>
          <a:prstGeom prst="ellipse">
            <a:avLst/>
          </a:prstGeom>
          <a:solidFill>
            <a:srgbClr val="87F7C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83696" y="502920"/>
            <a:ext cx="146304" cy="146304"/>
          </a:xfrm>
          <a:prstGeom prst="ellipse">
            <a:avLst/>
          </a:prstGeom>
          <a:solidFill>
            <a:srgbClr val="D8FF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03152" y="502920"/>
            <a:ext cx="146304" cy="146304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 &amp; INVESTOR ASK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checkout to a finance network.</a:t>
            </a:r>
            <a:endParaRPr lang="en-US" sz="2900" dirty="0"/>
          </a:p>
        </p:txBody>
      </p:sp>
      <p:sp>
        <p:nvSpPr>
          <p:cNvPr id="35" name="Shape 33"/>
          <p:cNvSpPr/>
          <p:nvPr/>
        </p:nvSpPr>
        <p:spPr>
          <a:xfrm>
            <a:off x="640080" y="20574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0C1913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Launch checkout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MeatLovers deposits · merchant order records · Stripe-backed checkout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6120" y="3291840"/>
            <a:ext cx="182880" cy="0"/>
          </a:xfrm>
          <a:prstGeom prst="line">
            <a:avLst/>
          </a:prstGeom>
          <a:noFill/>
          <a:ln w="25400">
            <a:solidFill>
              <a:srgbClr val="87F7C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429000" y="20574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0C1913"/>
          </a:solidFill>
          <a:ln w="15875">
            <a:solidFill>
              <a:srgbClr val="D8FF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FF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Integrate DealerMaster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6576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payment links · AR collection · AP payouts · contract servicing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3291840"/>
            <a:ext cx="182880" cy="0"/>
          </a:xfrm>
          <a:prstGeom prst="line">
            <a:avLst/>
          </a:prstGeom>
          <a:noFill/>
          <a:ln w="25400">
            <a:solidFill>
              <a:srgbClr val="D8FF7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17920" y="20574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0C1913"/>
          </a:solidFill>
          <a:ln w="15875">
            <a:solidFill>
              <a:srgbClr val="F4C9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C9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 + settlement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652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release for livestock, meat batches &amp; marketplaces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823960" y="3291840"/>
            <a:ext cx="182880" cy="0"/>
          </a:xfrm>
          <a:prstGeom prst="line">
            <a:avLst/>
          </a:prstGeom>
          <a:noFill/>
          <a:ln w="25400">
            <a:solidFill>
              <a:srgbClr val="F4C95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006840" y="20574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0C1913"/>
          </a:solidFill>
          <a:ln w="15875">
            <a:solidFill>
              <a:srgbClr val="5DD6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D6C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23544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 network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3544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receivable servicing · financing partners · risk data · marketplace rails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F2018"/>
          </a:solidFill>
          <a:ln w="15875">
            <a:solidFill>
              <a:srgbClr val="87F7C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7F7C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3F7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 the buildout of AgPay from checkout into escrow, settlement, contract finance, and vertical agri integrations.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AgPay — Investor Deck</dc:title>
  <dc:subject>PptxGenJS Presentation</dc:subject>
  <dc:creator>AgPay</dc:creator>
  <cp:lastModifiedBy>AgPay</cp:lastModifiedBy>
  <cp:revision>1</cp:revision>
  <dcterms:created xsi:type="dcterms:W3CDTF">2026-06-30T17:21:32Z</dcterms:created>
  <dcterms:modified xsi:type="dcterms:W3CDTF">2026-06-30T17:21:32Z</dcterms:modified>
</cp:coreProperties>
</file>